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116a6ad4d84b6d" /><Relationship Type="http://schemas.openxmlformats.org/officeDocument/2006/relationships/extended-properties" Target="/docProps/app.xml" Id="R178a9716e18d426f" /><Relationship Type="http://schemas.openxmlformats.org/officeDocument/2006/relationships/officeDocument" Target="/ppt/presentation.xml" Id="R943eb6efcc6b4a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c99c0b6d6b4379"/>
  </p:sldMasterIdLst>
  <p:notesMasterIdLst>
    <p:notesMasterId xmlns:r="http://schemas.openxmlformats.org/officeDocument/2006/relationships" r:id="R229c4763a0f54231"/>
  </p:notesMasterIdLst>
  <p:sldIdLst>
    <p:sldId xmlns:r="http://schemas.openxmlformats.org/officeDocument/2006/relationships" id="256" r:id="R0d18797aff1a4d21"/>
    <p:sldId xmlns:r="http://schemas.openxmlformats.org/officeDocument/2006/relationships" id="257" r:id="R18104c1764e64685"/>
    <p:sldId xmlns:r="http://schemas.openxmlformats.org/officeDocument/2006/relationships" id="258" r:id="Rc59be143b10f44e6"/>
    <p:sldId xmlns:r="http://schemas.openxmlformats.org/officeDocument/2006/relationships" id="259" r:id="R51852c4c2f9d48db"/>
    <p:sldId xmlns:r="http://schemas.openxmlformats.org/officeDocument/2006/relationships" id="260" r:id="R4a7c533b31c44d73"/>
    <p:sldId xmlns:r="http://schemas.openxmlformats.org/officeDocument/2006/relationships" id="261" r:id="Ra6b3cd63c43e44fc"/>
    <p:sldId xmlns:r="http://schemas.openxmlformats.org/officeDocument/2006/relationships" id="262" r:id="R0903f3a860e54f9d"/>
    <p:sldId xmlns:r="http://schemas.openxmlformats.org/officeDocument/2006/relationships" id="263" r:id="Rda1ea97120b34e54"/>
    <p:sldId xmlns:r="http://schemas.openxmlformats.org/officeDocument/2006/relationships" id="264" r:id="Reba27e1ad3b548d0"/>
    <p:sldId xmlns:r="http://schemas.openxmlformats.org/officeDocument/2006/relationships" id="265" r:id="Refaf895d4a0a411c"/>
    <p:sldId xmlns:r="http://schemas.openxmlformats.org/officeDocument/2006/relationships" id="266" r:id="Rf5a22cac39554267"/>
    <p:sldId xmlns:r="http://schemas.openxmlformats.org/officeDocument/2006/relationships" id="267" r:id="R7503efe1734346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7aa5efff0f438b" /><Relationship Type="http://schemas.openxmlformats.org/officeDocument/2006/relationships/slideMaster" Target="/ppt/slideMasters/slideMaster1.xml" Id="R98c99c0b6d6b4379" /><Relationship Type="http://schemas.openxmlformats.org/officeDocument/2006/relationships/notesMaster" Target="/ppt/notesMasters/notesMaster1.xml" Id="R229c4763a0f54231" /><Relationship Type="http://schemas.openxmlformats.org/officeDocument/2006/relationships/presProps" Target="/ppt/presProps.xml" Id="Rb59afa7eceac4582" /><Relationship Type="http://schemas.openxmlformats.org/officeDocument/2006/relationships/tableStyles" Target="/ppt/tableStyles.xml" Id="R0dd1800a274647a9" /><Relationship Type="http://schemas.openxmlformats.org/officeDocument/2006/relationships/slide" Target="/ppt/slides/slide1.xml" Id="R0d18797aff1a4d21" /><Relationship Type="http://schemas.openxmlformats.org/officeDocument/2006/relationships/slide" Target="/ppt/slides/slide2.xml" Id="R18104c1764e64685" /><Relationship Type="http://schemas.openxmlformats.org/officeDocument/2006/relationships/slide" Target="/ppt/slides/slide3.xml" Id="Rc59be143b10f44e6" /><Relationship Type="http://schemas.openxmlformats.org/officeDocument/2006/relationships/slide" Target="/ppt/slides/slide4.xml" Id="R51852c4c2f9d48db" /><Relationship Type="http://schemas.openxmlformats.org/officeDocument/2006/relationships/slide" Target="/ppt/slides/slide5.xml" Id="R4a7c533b31c44d73" /><Relationship Type="http://schemas.openxmlformats.org/officeDocument/2006/relationships/slide" Target="/ppt/slides/slide6.xml" Id="Ra6b3cd63c43e44fc" /><Relationship Type="http://schemas.openxmlformats.org/officeDocument/2006/relationships/slide" Target="/ppt/slides/slide7.xml" Id="R0903f3a860e54f9d" /><Relationship Type="http://schemas.openxmlformats.org/officeDocument/2006/relationships/slide" Target="/ppt/slides/slide8.xml" Id="Rda1ea97120b34e54" /><Relationship Type="http://schemas.openxmlformats.org/officeDocument/2006/relationships/slide" Target="/ppt/slides/slide9.xml" Id="Reba27e1ad3b548d0" /><Relationship Type="http://schemas.openxmlformats.org/officeDocument/2006/relationships/slide" Target="/ppt/slides/slide10.xml" Id="Refaf895d4a0a411c" /><Relationship Type="http://schemas.openxmlformats.org/officeDocument/2006/relationships/slide" Target="/ppt/slides/slide11.xml" Id="Rf5a22cac39554267" /><Relationship Type="http://schemas.openxmlformats.org/officeDocument/2006/relationships/slide" Target="/ppt/slides/slide12.xml" Id="R7503efe1734346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0500a0f0ff44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868774dcf54a0d" /><Relationship Type="http://schemas.openxmlformats.org/officeDocument/2006/relationships/notesMaster" Target="/ppt/notesMasters/notesMaster1.xml" Id="R475ae39f8ae244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3232af312f4f10" /><Relationship Type="http://schemas.openxmlformats.org/officeDocument/2006/relationships/notesMaster" Target="/ppt/notesMasters/notesMaster1.xml" Id="Rdb15fdc68e6b49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0689f96edd42db" /><Relationship Type="http://schemas.openxmlformats.org/officeDocument/2006/relationships/notesMaster" Target="/ppt/notesMasters/notesMaster1.xml" Id="Reb486f658f6346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c436a8e0564086" /><Relationship Type="http://schemas.openxmlformats.org/officeDocument/2006/relationships/notesMaster" Target="/ppt/notesMasters/notesMaster1.xml" Id="R4f2397e6e33f4f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9a7a0298684300" /><Relationship Type="http://schemas.openxmlformats.org/officeDocument/2006/relationships/notesMaster" Target="/ppt/notesMasters/notesMaster1.xml" Id="R2d587ce1420c4f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bf13194d83418f" /><Relationship Type="http://schemas.openxmlformats.org/officeDocument/2006/relationships/notesMaster" Target="/ppt/notesMasters/notesMaster1.xml" Id="Rb0a53f53b1ff48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e67ce3e5fb4e6b" /><Relationship Type="http://schemas.openxmlformats.org/officeDocument/2006/relationships/notesMaster" Target="/ppt/notesMasters/notesMaster1.xml" Id="Rc5c7290945cd48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940d0d0ba54c17" /><Relationship Type="http://schemas.openxmlformats.org/officeDocument/2006/relationships/notesMaster" Target="/ppt/notesMasters/notesMaster1.xml" Id="Rf97f5bd24bb34b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a9543fb4984d2d" /><Relationship Type="http://schemas.openxmlformats.org/officeDocument/2006/relationships/notesMaster" Target="/ppt/notesMasters/notesMaster1.xml" Id="Rc26a85db9b594a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176b5b00434de9" /><Relationship Type="http://schemas.openxmlformats.org/officeDocument/2006/relationships/notesMaster" Target="/ppt/notesMasters/notesMaster1.xml" Id="Rdc674a9d669344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3cf7990a8b4989" /><Relationship Type="http://schemas.openxmlformats.org/officeDocument/2006/relationships/notesMaster" Target="/ppt/notesMasters/notesMaster1.xml" Id="R67b6f8eb8d5742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eab72ccc364fe0" /><Relationship Type="http://schemas.openxmlformats.org/officeDocument/2006/relationships/notesMaster" Target="/ppt/notesMasters/notesMaster1.xml" Id="R3937a80a890d41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2d41401c94c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4fc282abda4656" /><Relationship Type="http://schemas.openxmlformats.org/officeDocument/2006/relationships/slideLayout" Target="/ppt/slideLayouts/slideLayout1.xml" Id="R01c2b95ce6614d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c2b95ce6614d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7cd72a10a448e" /><Relationship Type="http://schemas.openxmlformats.org/officeDocument/2006/relationships/notesSlide" Target="/ppt/notesSlides/notesSlide1.xml" Id="R01069b397fe342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3fbb3ceb64a7d" /><Relationship Type="http://schemas.openxmlformats.org/officeDocument/2006/relationships/notesSlide" Target="/ppt/notesSlides/notesSlide2.xml" Id="R788c89d4b2cc49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16ca368b84f68" /><Relationship Type="http://schemas.openxmlformats.org/officeDocument/2006/relationships/notesSlide" Target="/ppt/notesSlides/notesSlide3.xml" Id="R9214acc5d1cf4d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d7e004a1844e2" /><Relationship Type="http://schemas.openxmlformats.org/officeDocument/2006/relationships/notesSlide" Target="/ppt/notesSlides/notesSlide4.xml" Id="R34c04a6ce3504e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d283ca06247da" /><Relationship Type="http://schemas.openxmlformats.org/officeDocument/2006/relationships/notesSlide" Target="/ppt/notesSlides/notesSlide5.xml" Id="R1e8e8d6604b342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ca0a19660475a" /><Relationship Type="http://schemas.openxmlformats.org/officeDocument/2006/relationships/notesSlide" Target="/ppt/notesSlides/notesSlide6.xml" Id="Ra20c15d622984f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9943d4e6d4405" /><Relationship Type="http://schemas.openxmlformats.org/officeDocument/2006/relationships/notesSlide" Target="/ppt/notesSlides/notesSlide7.xml" Id="Ra1b87062514341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92074079e44a1" /><Relationship Type="http://schemas.openxmlformats.org/officeDocument/2006/relationships/notesSlide" Target="/ppt/notesSlides/notesSlide8.xml" Id="Rbfb642c89f2b45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96d239984440c" /><Relationship Type="http://schemas.openxmlformats.org/officeDocument/2006/relationships/notesSlide" Target="/ppt/notesSlides/notesSlide9.xml" Id="R88a1a84fe1984a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27ac9e75344d9" /><Relationship Type="http://schemas.openxmlformats.org/officeDocument/2006/relationships/notesSlide" Target="/ppt/notesSlides/notesSlide10.xml" Id="Rfc371ca080d044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82dc567d5451c" /><Relationship Type="http://schemas.openxmlformats.org/officeDocument/2006/relationships/notesSlide" Target="/ppt/notesSlides/notesSlide11.xml" Id="Rc5f43cdb796f4f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4e40b54b24848" /><Relationship Type="http://schemas.openxmlformats.org/officeDocument/2006/relationships/notesSlide" Target="/ppt/notesSlides/notesSlide12.xml" Id="Rf9f3a4d5754c40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144876-B97E-478A-A032-82EC23A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PROYECTO FINAL · AI EXPERT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6641A-0397-4B4E-8409-3630B308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4125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TONTO Kids</a:t>
            </a:r>
          </a:p>
          <a:p xmlns:a="http://schemas.openxmlformats.org/drawingml/2006/main">
            <a:pPr algn="l">
              <a:defRPr sz="4125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4125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4C34A-5CEF-4680-A0AA-242C3702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6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Memoria visual para tutores · MVP de 6 semanas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47290-462E-4F3C-95F4-685A7B83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3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Asistente físico educativo para niños, construido como producto evolutivo y como práctica real de ingeniería aumentada por 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9E63D-3D40-405F-8CEF-8514C560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361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DD750-7E07-438C-A9F2-965E916F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E6548-41CB-4BA2-BA05-9E5FBE73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1620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5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Cliente físico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4BD7A-A5C8-4BEF-B507-4A5C1B25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8590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Raspberry Pi como punto de interacción.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D9E61-AAAC-4E26-BCE4-4BA337A5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361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44CE4-60F8-421F-812B-2FB2DA8A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B6"/>
          </a:solidFill>
          <a:ln xmlns:a="http://schemas.openxmlformats.org/drawingml/2006/main" w="0">
            <a:solidFill>
              <a:srgbClr val="9ADD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447AE-3748-4AA3-A689-32A32D95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145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5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Backend orquestador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C1C7E-FACC-4E36-A6BC-9D1F47E1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3840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FastAPI, contrato HTTP/JSON y proveedores.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D6661-C181-464D-B845-99CE80F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361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32EC0-B1A7-4E95-B281-18E310D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48"/>
          </a:solidFill>
          <a:ln xmlns:a="http://schemas.openxmlformats.org/drawingml/2006/main" w="0">
            <a:solidFill>
              <a:srgbClr val="F5D9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66FCD-7B3E-4C44-B482-2FE6269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670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5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IA + voz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4E679-7CC5-4692-8524-4FC64C1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9090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Respuesta educativa y salida hablada.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3F4F6-4AE3-43A1-9FDF-1462350E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361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8B3E2-D576-4DF3-9F12-1450F922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A83"/>
          </a:solidFill>
          <a:ln xmlns:a="http://schemas.openxmlformats.org/drawingml/2006/main" w="0">
            <a:solidFill>
              <a:srgbClr val="F3CA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C6066-54F3-4373-8205-DEF8653B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195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5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Documentación viva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24126-37C5-47DC-AAB7-264E2A99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4340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Fuente de verdad para humanos y agentes.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5ABD9-78DA-4BAB-80F7-D0E3AD73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486AE-2715-495E-AD18-56429ADA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Jose Luis Illana Ruiz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70920-270C-48A8-AE1C-13EF9550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82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joseluisillana@gmail.com · linkedin.com/in/jose-luis-illana-ruiz-9446831b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03C25-4E78-4756-BE36-41640DA9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defRPr>
            </a:pPr>
            <a:r>
              <a: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rPr>
              <a:t>TONTO Kids Assistant · Dev Expert - AI Expert · Junio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1EE2B4-6AD7-4556-BB71-AF0FC0E3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056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6478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E6F0D-ECB0-4AB7-AE97-5EDAFA4F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TESIS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6E39F-0B21-4BDF-8B3B-C7672E3E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No es un chatbot: es una base física educativa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AEBDF-7361-456F-A1CF-60EE9F81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El MVP valida lo mínimo que permite demostrar una conversación educativa reproducible.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5A46B-9253-431F-9E42-64B08EBD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22624-3077-4B25-99F8-528158CD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04F53-0EC0-4040-A939-17982F6A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6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Producto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EE60A-2A22-4460-A27C-DC4A7807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33675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Un asistente con presencia física: escucha, backend, respuesta educativa y voz.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6BAF1-7B26-402C-B9FA-400C1837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548FC-D06B-465F-9E85-11207205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B6"/>
          </a:solidFill>
          <a:ln xmlns:a="http://schemas.openxmlformats.org/drawingml/2006/main" w="0">
            <a:solidFill>
              <a:srgbClr val="9ADD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7A4B7-F357-459B-A041-F2CF4E5B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982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6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Ingeniería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7FC8F-17EC-451F-B881-FAE895B0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33675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Arquitectura simple, contratos claros y scripts compartidos para humanos y agentes.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390B1-AF57-4253-A111-7E3305B2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E983C-2489-4CB2-A0E1-67612962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48"/>
          </a:solidFill>
          <a:ln xmlns:a="http://schemas.openxmlformats.org/drawingml/2006/main" w="0">
            <a:solidFill>
              <a:srgbClr val="F5D9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DEB9C-A06D-4C3D-98BE-B517EDC4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982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6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Trabajo con 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A49F7-6150-43A4-8353-94B5427D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33675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Documentación como fuente de verdad; agentes como ejecutores bajo reglas explícitas.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D9D8A-35CE-46E4-9131-47D8B209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D5316-9246-4755-8C9B-F841B34D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244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150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Evaluar el prototipo y la forma de trabajar que lo hace reproducible.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3C01A-C905-4FD4-A51D-915024B3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defRPr>
            </a:pPr>
            <a:r>
              <a: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rPr>
              <a:t>TONTO Kids Assistant · Dev Expert - AI Expert · Junio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B420B0-0D88-487B-A6F4-0A062006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056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9785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CB0DEA-CC73-4CA2-AD55-B1CF4A84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VISIÓN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53CD3-0B8E-4A3E-A460-CC794073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MVP pequeño, trayectoria grande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7E5C5-E184-4C52-A052-9D9E7DD1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Hardware accesible hoy; capacidades físicas, perceptivas y programáticas mañana.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6D4B2-3BAD-486A-BF09-3E4BB7A4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9EBB8-FD7E-4976-81C2-C4D0F5AF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BA0BE-9E70-4C48-9D1F-DD7F3457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050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7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Hoy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C3064-B36D-4EC1-9A83-970116BD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28925"/>
            <a:ext cx="2609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Raspberry Pi como cliente fino, backend FastAPI y respuesta hablada.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B6841-EF38-4725-B1A1-64F8BEB0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209EB-A462-47C8-84D0-18B3CF7E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B6"/>
          </a:solidFill>
          <a:ln xmlns:a="http://schemas.openxmlformats.org/drawingml/2006/main" w="0">
            <a:solidFill>
              <a:srgbClr val="9ADD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52730-B703-4060-96D8-9514C54D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050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7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Después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D8D3E-D178-4530-B166-0131B053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28925"/>
            <a:ext cx="2609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Arduino, Jetson Orin Nano, cámara, LIDAR, sensores, movimiento e IoT.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6C1C2-FD25-49B1-A272-56BFBB55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BAFCD-DC18-4982-96E6-F087899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48"/>
          </a:solidFill>
          <a:ln xmlns:a="http://schemas.openxmlformats.org/drawingml/2006/main" w="0">
            <a:solidFill>
              <a:srgbClr val="F5D9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865A8-C08C-4CEE-A135-82CAF13C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050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7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Siempre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6C649-5B57-4BC1-B860-52B7055C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28925"/>
            <a:ext cx="2609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Contrato simple y documentado para poder evolucionar sin perder claridad.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2E2CA-4D5E-4E72-9090-77F28B47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38500"/>
            <a:ext cx="3524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6A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CC704-724C-4687-878A-0CFD8AD9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3524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6A9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91235-041A-435B-9B81-16969ACA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defRPr>
            </a:pPr>
            <a:r>
              <a: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rPr>
              <a:t>TONTO Kids Assistant · Dev Expert - AI Expert · Junio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04765-028D-4DC9-84A1-2A4B8660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056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8374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046DA-33BC-4173-A2A7-D59B1302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DIFERENCIADOR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13598-9096-46F6-B470-468B6338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De conversación textual a sistema encarnado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4DF99-37C2-48C9-A0F5-A101D635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La diferencia está en dónde ocurre la interacción y qué puede aprender a hacer el sistema.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4CC42-576F-431D-9B11-8C407E3A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8C123-07CD-4099-A01E-77881E75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41F11-C8E1-41B1-B6F5-1EFE6E46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Interfaz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8E83A-3212-4656-BD32-5AB2F719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3143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157BD-371B-4149-91FF-6F89FF08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Pantalla y texto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D4ABE-1424-46A6-B44F-00192449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572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32872-83F0-4AAD-8AB9-B911A3CD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Dispositivo físico con voz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B0B01-65E2-4013-B5DC-0ACFDE4F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5CD9A-B2C3-4813-A75D-2A5CED1F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B6"/>
          </a:solidFill>
          <a:ln xmlns:a="http://schemas.openxmlformats.org/drawingml/2006/main" w="0">
            <a:solidFill>
              <a:srgbClr val="9ADD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3A8BE-5A27-43E0-BEFB-D6A0D3D7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Evolución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140AB-B046-4619-B393-F7C49A91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3143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9319F-50DA-407D-BF89-5C91AD89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480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Más prompts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7749A-22A6-43DF-B384-2B2E2B95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6B8E1-401A-41CF-9BA8-60269374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Sensores, actuadores, visión e IoT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12530-6B29-48E2-95DA-3EA9BDAA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E301E-B12B-42DC-95C3-F866F88F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48"/>
          </a:solidFill>
          <a:ln xmlns:a="http://schemas.openxmlformats.org/drawingml/2006/main" w="0">
            <a:solidFill>
              <a:srgbClr val="F5D9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9B319-CD0C-48C4-8183-731FF024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Arquitectura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20C1B-CECE-4AB3-B75B-24016CA6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3143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B21C2-8E64-4A5B-8338-6E325EF2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App alrededor del chat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87106C-18ED-4E52-B172-DE02F690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4572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F54E7-78D4-4A3E-8877-745714E2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Cliente fino + backend orquestador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5380C4-14FF-4579-B6AF-9E13D344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E32EB6-DA4F-4012-8AA5-ACEC5939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A83"/>
          </a:solidFill>
          <a:ln xmlns:a="http://schemas.openxmlformats.org/drawingml/2006/main" w="0">
            <a:solidFill>
              <a:srgbClr val="F3CA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F827E9-62CA-44B5-8BB3-46360388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Validación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10E36C-9B0D-4D43-AB7B-9D610287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3143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8CB922-5D25-4BD0-B4A0-33FC19A4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Respuesta correcta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949033-7CF7-475B-9B29-90BAF789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4572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EF0EFF-BB3D-497F-AA75-6037D170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72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Demo extremo a extremo reproducible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D5B525-0D7F-4FA8-9D69-76534E00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defRPr>
            </a:pPr>
            <a:r>
              <a: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rPr>
              <a:t>TONTO Kids Assistant · Dev Expert - AI Expert · Junio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77223E-6A48-4B76-939C-F215E094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056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4605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F3F118-0CD8-499F-877C-320E062E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MVP 6 SEMANAS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614B7-03D5-4F9D-AD83-94B0E066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Planteado desde el inicio como demo-first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82E51-E550-4264-9B4E-A4EB66C2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Alcance estrecho, validación progresiva y cierre con evidencia.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7EC9D-4C35-416B-A2EC-3C8B30A4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5811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A9DC3-C91D-45D2-AB7A-96714F81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6A9D6"/>
                </a:solidFill>
                <a:latin typeface="Nunito Sans"/>
                <a:ea typeface="Nunito Sans"/>
                <a:cs typeface="Nunito Sans"/>
              </a:defRPr>
            </a:pPr>
            <a:r>
              <a:rPr sz="2250" b="1">
                <a:solidFill>
                  <a:srgbClr val="86A9D6"/>
                </a:solidFill>
                <a:latin typeface="Nunito Sans"/>
                <a:ea typeface="Nunito Sans"/>
                <a:cs typeface="Nunito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40939-65F7-48B3-BB99-476012C4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Base repo</a:t>
            </a:r>
          </a:p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y contrato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B5B8B-0938-4299-886D-53DEAD08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15811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6746C-1270-4956-A64B-F85D283D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DDB6"/>
                </a:solidFill>
                <a:latin typeface="Nunito Sans"/>
                <a:ea typeface="Nunito Sans"/>
                <a:cs typeface="Nunito Sans"/>
              </a:defRPr>
            </a:pPr>
            <a:r>
              <a:rPr sz="2250" b="1">
                <a:solidFill>
                  <a:srgbClr val="9ADDB6"/>
                </a:solidFill>
                <a:latin typeface="Nunito Sans"/>
                <a:ea typeface="Nunito Sans"/>
                <a:cs typeface="Nunito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57FA5-CC14-429F-9EDE-49512EB5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147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Backend +</a:t>
            </a:r>
          </a:p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0D51E-6029-4134-B2BC-9FE8DEB0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15811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5C241-D230-4961-B328-E26B4447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D948"/>
                </a:solidFill>
                <a:latin typeface="Nunito Sans"/>
                <a:ea typeface="Nunito Sans"/>
                <a:cs typeface="Nunito Sans"/>
              </a:defRPr>
            </a:pPr>
            <a:r>
              <a:rPr sz="2250" b="1">
                <a:solidFill>
                  <a:srgbClr val="F5D948"/>
                </a:solidFill>
                <a:latin typeface="Nunito Sans"/>
                <a:ea typeface="Nunito Sans"/>
                <a:cs typeface="Nunito San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7E9B2-3431-43EA-858A-06C6939A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147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Loop de voz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5C1DF-FBCF-4E3D-9049-414CCA95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15811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FE73C-D494-489D-B7F2-1A5CC862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CA83"/>
                </a:solidFill>
                <a:latin typeface="Nunito Sans"/>
                <a:ea typeface="Nunito Sans"/>
                <a:cs typeface="Nunito Sans"/>
              </a:defRPr>
            </a:pPr>
            <a:r>
              <a:rPr sz="2250" b="1">
                <a:solidFill>
                  <a:srgbClr val="F3CA83"/>
                </a:solidFill>
                <a:latin typeface="Nunito Sans"/>
                <a:ea typeface="Nunito Sans"/>
                <a:cs typeface="Nunito San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38891-2C18-439C-80DE-4E03BBEA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Estabilidad</a:t>
            </a:r>
          </a:p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BA5EB-8B98-47C3-80E9-E0D69957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15811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AC0AD-ED99-46A5-AF58-8F255FB2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6A9D6"/>
                </a:solidFill>
                <a:latin typeface="Nunito Sans"/>
                <a:ea typeface="Nunito Sans"/>
                <a:cs typeface="Nunito Sans"/>
              </a:defRPr>
            </a:pPr>
            <a:r>
              <a:rPr sz="2250" b="1">
                <a:solidFill>
                  <a:srgbClr val="86A9D6"/>
                </a:solidFill>
                <a:latin typeface="Nunito Sans"/>
                <a:ea typeface="Nunito Sans"/>
                <a:cs typeface="Nunito Sans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203E9-12A9-47D8-8228-783D7EE1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UX +</a:t>
            </a:r>
          </a:p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proveedores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ED96D2-5DA2-47C8-9F36-FCE6A813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52700"/>
            <a:ext cx="15811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D9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06CAC-0E5F-413C-B2E0-2DF96438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22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7BBD5-2C54-43E7-BFC4-B2718AA2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Cierre +</a:t>
            </a:r>
          </a:p>
          <a:p xmlns:a="http://schemas.openxmlformats.org/drawingml/2006/main"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presentación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3988D-2677-4F61-8D21-1303BA7E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57750"/>
            <a:ext cx="84582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86FCD-CE01-4C4D-98AE-DC7092BD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29200"/>
            <a:ext cx="803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150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Primero una conversación real y demostrable; luego ampliar capacidades.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273697-7F2B-4647-BDD0-C0CB0689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defRPr>
            </a:pPr>
            <a:r>
              <a: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rPr>
              <a:t>TONTO Kids Assistant · Dev Expert - AI Expert · Junio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F64E1B-5219-4559-A15D-EA5E43B6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056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52046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C43BA8-09C2-43EC-8845-6B5D959E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ARQUITECTURA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E5783-75CB-4E21-A677-811EBA35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Cliente fino, backend orquestador, proveedores externos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C9B0C-4C1A-4B4F-99F9-513E0292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La Raspberry Pi no concentra la inteligencia; el backend mantiene el control del flujo.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5A20E-F869-48B9-8CB2-34BAB084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190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BD018-1C83-4EB2-B076-BB8BD578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FBA1A-6043-40C8-B3C8-ED66AEAF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Raspberry 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15837-40F0-4CDA-8331-A49B435A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752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Entrada del niño, audio local y reproducción.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3A840-B99A-43EE-A5FF-C11EB04F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38375"/>
            <a:ext cx="2571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BCB6C-2051-4931-A00F-FBC7BCE2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383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B6"/>
          </a:solidFill>
          <a:ln xmlns:a="http://schemas.openxmlformats.org/drawingml/2006/main" w="0">
            <a:solidFill>
              <a:srgbClr val="9ADD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8C472-486D-4F16-9367-AEE7F951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4098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Backend 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DBCB5-C28C-49E1-A9D6-B0DA5ABD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733675"/>
            <a:ext cx="2133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Contrato HTTP/JSON, orquestación, resiliencia y demo observable.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73D55-D800-428C-A026-3565124B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ECAF5-9487-444D-92C0-9A8D44EA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48"/>
          </a:solidFill>
          <a:ln xmlns:a="http://schemas.openxmlformats.org/drawingml/2006/main" w="0">
            <a:solidFill>
              <a:srgbClr val="F5D9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803E0-4E20-49A7-B537-07FE4C88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479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Proveedor 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7D438-A00B-4CE3-804E-3870BF68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71800"/>
            <a:ext cx="19431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OpenAI / DevExpert Inference para generar respuesta educativa.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1D517-A16E-4822-88CD-C08C155F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1333500" cy="138112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5B588-BAA2-455C-BAFD-1B028902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A83"/>
          </a:solidFill>
          <a:ln xmlns:a="http://schemas.openxmlformats.org/drawingml/2006/main" w="0">
            <a:solidFill>
              <a:srgbClr val="F3C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84777-C1DC-4CF3-92A3-7CFB9AB1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479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TTS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0D55C-3A21-4948-8299-2280782F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71800"/>
            <a:ext cx="8953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Salida hablada.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720D0-8F1A-4BE6-8CC9-D30D6AFD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71825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6A9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D801A-F810-4A44-A6DA-1AF5D20E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71825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6A9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E201B-AE57-4636-AF37-DD54F825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7182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6A9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34D5A-DCA4-4BA0-A314-5B40667D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74295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E652E-4EB5-4AF5-8080-9729F9AF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720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Principio de diseño: cliente físico fino; backend orquesta inteligencia y demo.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E76FFB-8BF5-4414-9853-B5512943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defRPr>
            </a:pPr>
            <a:r>
              <a: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rPr>
              <a:t>TONTO Kids Assistant · Dev Expert - AI Expert · Junio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B05A3B-DA0D-44C8-88D7-2B833B90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056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17044465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294CF19C-B96C-4E23-B172-996C16AE9C3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DESARROLLO ASISTIDO POR IA</a:t>
            </a:r>
          </a:p>
        </p:txBody>
      </p:sp>
      <p:sp>
        <p:nvSpPr>
          <p:cNvPr id="2" name="">
            <a:extLst>
              <a:ext uri="{FF2B5EF4-FFF2-40B4-BE49-F238E27FC236}">
                <ns2:creationId id="{3518566D-2F06-4A27-834D-E89F9B9DFB5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La documentación gobierna el trabajo</a:t>
            </a:r>
          </a:p>
        </p:txBody>
      </p:sp>
      <p:sp>
        <p:nvSpPr>
          <p:cNvPr id="3" name="">
            <a:extLst>
              <a:ext uri="{FF2B5EF4-FFF2-40B4-BE49-F238E27FC236}">
                <ns2:creationId id="{473AFFCE-F11D-4DF5-9949-B53C05C0449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Los agentes ejecutan dentro de un marco documental y operativo.</a:t>
            </a:r>
          </a:p>
        </p:txBody>
      </p:sp>
      <p:sp>
        <p:nvSpPr>
          <p:cNvPr id="4" name="">
            <a:extLst>
              <a:ext uri="{FF2B5EF4-FFF2-40B4-BE49-F238E27FC236}">
                <ns2:creationId id="{7CF4AD20-871D-4CDA-8894-2B534576CA27}"/>
              </a:ext>
            </a:extLst>
          </p:cNvPr>
          <p:cNvSpPr>
            <a:spLocks noGrp="1"/>
          </p:cNvSpPr>
          <p:nvPr/>
        </p:nvSpPr>
        <p:spPr>
          <a:xfrm>
            <a:off x="1143000" y="2019300"/>
            <a:ext cx="9906000" cy="609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447CC6CD-EAC6-43F4-8BD3-A5B4E2B1D765}"/>
              </a:ext>
            </a:extLst>
          </p:cNvPr>
          <p:cNvSpPr>
            <a:spLocks noGrp="1"/>
          </p:cNvSpPr>
          <p:nvPr/>
        </p:nvSpPr>
        <p:spPr>
          <a:xfrm>
            <a:off x="1143000" y="2019300"/>
            <a:ext cx="66675" cy="609600"/>
          </a:xfrm>
          <a:prstGeom prst="rect">
            <a:avLst/>
          </a:prstGeom>
          <a:solidFill>
            <a:srgbClr val="86A9D6"/>
          </a:solidFill>
          <a:ln w="0">
            <a:solidFill>
              <a:srgbClr val="86A9D6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5AE6CD12-7DE4-4187-9369-028F4E37DB3B}"/>
              </a:ext>
            </a:extLst>
          </p:cNvPr>
          <p:cNvSpPr>
            <a:spLocks noGrp="1"/>
          </p:cNvSpPr>
          <p:nvPr/>
        </p:nvSpPr>
        <p:spPr>
          <a:xfrm>
            <a:off x="1371600" y="2190750"/>
            <a:ext cx="946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1. Fuente de verdad</a:t>
            </a:r>
          </a:p>
        </p:txBody>
      </p:sp>
      <p:sp>
        <p:nvSpPr>
          <p:cNvPr id="7" name="">
            <a:extLst>
              <a:ext uri="{FF2B5EF4-FFF2-40B4-BE49-F238E27FC236}">
                <ns2:creationId id="{8C47494F-2907-4EA6-BB7D-0C0BC3566BB4}"/>
              </a:ext>
            </a:extLst>
          </p:cNvPr>
          <p:cNvSpPr>
            <a:spLocks noGrp="1"/>
          </p:cNvSpPr>
          <p:nvPr/>
        </p:nvSpPr>
        <p:spPr>
          <a:xfrm>
            <a:off x="1371600" y="2352675"/>
            <a:ext cx="946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9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Specs, roadmap, architecture, planes y journal fijan alcance y decisiones.</a:t>
            </a:r>
          </a:p>
        </p:txBody>
      </p:sp>
      <p:sp>
        <p:nvSpPr>
          <p:cNvPr id="9" name="">
            <a:extLst>
              <a:ext uri="{FF2B5EF4-FFF2-40B4-BE49-F238E27FC236}">
                <ns2:creationId id="{4EF59C99-8B3E-4FBB-9B75-D2322F334D7B}"/>
              </a:ext>
            </a:extLst>
          </p:cNvPr>
          <p:cNvSpPr>
            <a:spLocks noGrp="1"/>
          </p:cNvSpPr>
          <p:nvPr/>
        </p:nvSpPr>
        <p:spPr>
          <a:xfrm>
            <a:off x="1143000" y="2705100"/>
            <a:ext cx="9906000" cy="609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69C0DCF6-B741-43B5-956B-F70671759B2E}"/>
              </a:ext>
            </a:extLst>
          </p:cNvPr>
          <p:cNvSpPr>
            <a:spLocks noGrp="1"/>
          </p:cNvSpPr>
          <p:nvPr/>
        </p:nvSpPr>
        <p:spPr>
          <a:xfrm>
            <a:off x="1143000" y="2705100"/>
            <a:ext cx="66675" cy="609600"/>
          </a:xfrm>
          <a:prstGeom prst="rect">
            <a:avLst/>
          </a:prstGeom>
          <a:solidFill>
            <a:srgbClr val="9ADDB6"/>
          </a:solidFill>
          <a:ln w="0">
            <a:solidFill>
              <a:srgbClr val="9ADDB6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85F5268A-24EF-471A-9CA2-D94FB20323C0}"/>
              </a:ext>
            </a:extLst>
          </p:cNvPr>
          <p:cNvSpPr>
            <a:spLocks noGrp="1"/>
          </p:cNvSpPr>
          <p:nvPr/>
        </p:nvSpPr>
        <p:spPr>
          <a:xfrm>
            <a:off x="1371600" y="2876550"/>
            <a:ext cx="946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2. Gate pre-edición</a:t>
            </a:r>
          </a:p>
        </p:txBody>
      </p:sp>
      <p:sp>
        <p:nvSpPr>
          <p:cNvPr id="12" name="">
            <a:extLst>
              <a:ext uri="{FF2B5EF4-FFF2-40B4-BE49-F238E27FC236}">
                <ns2:creationId id="{6EC0E891-4A6A-43AA-A414-FFCC76265920}"/>
              </a:ext>
            </a:extLst>
          </p:cNvPr>
          <p:cNvSpPr>
            <a:spLocks noGrp="1"/>
          </p:cNvSpPr>
          <p:nvPr/>
        </p:nvSpPr>
        <p:spPr>
          <a:xfrm>
            <a:off x="1371600" y="3038475"/>
            <a:ext cx="946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9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Rama, estado Git, milestone y conflictos se revisan antes de tocar archivos.</a:t>
            </a:r>
          </a:p>
        </p:txBody>
      </p:sp>
      <p:sp>
        <p:nvSpPr>
          <p:cNvPr id="14" name="">
            <a:extLst>
              <a:ext uri="{FF2B5EF4-FFF2-40B4-BE49-F238E27FC236}">
                <ns2:creationId id="{62F43200-4891-4780-9F03-8D9A23A06ED5}"/>
              </a:ext>
            </a:extLst>
          </p:cNvPr>
          <p:cNvSpPr>
            <a:spLocks noGrp="1"/>
          </p:cNvSpPr>
          <p:nvPr/>
        </p:nvSpPr>
        <p:spPr>
          <a:xfrm>
            <a:off x="1143000" y="3390900"/>
            <a:ext cx="9906000" cy="609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53FEDF34-30F8-4F7A-AD7E-D9FDE6195EF9}"/>
              </a:ext>
            </a:extLst>
          </p:cNvPr>
          <p:cNvSpPr>
            <a:spLocks noGrp="1"/>
          </p:cNvSpPr>
          <p:nvPr/>
        </p:nvSpPr>
        <p:spPr>
          <a:xfrm>
            <a:off x="1143000" y="3390900"/>
            <a:ext cx="66675" cy="609600"/>
          </a:xfrm>
          <a:prstGeom prst="rect">
            <a:avLst/>
          </a:prstGeom>
          <a:solidFill>
            <a:srgbClr val="F5D948"/>
          </a:solidFill>
          <a:ln w="0">
            <a:solidFill>
              <a:srgbClr val="F5D948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40CE6450-F5B9-4458-8F47-DF844076F580}"/>
              </a:ext>
            </a:extLst>
          </p:cNvPr>
          <p:cNvSpPr>
            <a:spLocks noGrp="1"/>
          </p:cNvSpPr>
          <p:nvPr/>
        </p:nvSpPr>
        <p:spPr>
          <a:xfrm>
            <a:off x="1371600" y="3562350"/>
            <a:ext cx="946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3. Agentes</a:t>
            </a:r>
          </a:p>
        </p:txBody>
      </p:sp>
      <p:sp>
        <p:nvSpPr>
          <p:cNvPr id="17" name="">
            <a:extLst>
              <a:ext uri="{FF2B5EF4-FFF2-40B4-BE49-F238E27FC236}">
                <ns2:creationId id="{63CA0464-B317-4196-B1A5-6520A83B61AA}"/>
              </a:ext>
            </a:extLst>
          </p:cNvPr>
          <p:cNvSpPr>
            <a:spLocks noGrp="1"/>
          </p:cNvSpPr>
          <p:nvPr/>
        </p:nvSpPr>
        <p:spPr>
          <a:xfrm>
            <a:off x="1371600" y="3724275"/>
            <a:ext cx="946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9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AGENTS.md y skills repo-locales traducen reglas a instrucciones operativas.</a:t>
            </a:r>
          </a:p>
        </p:txBody>
      </p:sp>
      <p:sp>
        <p:nvSpPr>
          <p:cNvPr id="19" name="">
            <a:extLst>
              <a:ext uri="{FF2B5EF4-FFF2-40B4-BE49-F238E27FC236}">
                <ns2:creationId id="{5ABA9CDE-ABCA-41DC-A17F-90BEE35EF0C2}"/>
              </a:ext>
            </a:extLst>
          </p:cNvPr>
          <p:cNvSpPr>
            <a:spLocks noGrp="1"/>
          </p:cNvSpPr>
          <p:nvPr/>
        </p:nvSpPr>
        <p:spPr>
          <a:xfrm>
            <a:off x="1143000" y="4076700"/>
            <a:ext cx="9906000" cy="609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60691E68-71E7-4DE3-8285-4E4CC246E66E}"/>
              </a:ext>
            </a:extLst>
          </p:cNvPr>
          <p:cNvSpPr>
            <a:spLocks noGrp="1"/>
          </p:cNvSpPr>
          <p:nvPr/>
        </p:nvSpPr>
        <p:spPr>
          <a:xfrm>
            <a:off x="1143000" y="4076700"/>
            <a:ext cx="66675" cy="609600"/>
          </a:xfrm>
          <a:prstGeom prst="rect">
            <a:avLst/>
          </a:prstGeom>
          <a:solidFill>
            <a:srgbClr val="F3CA83"/>
          </a:solidFill>
          <a:ln w="0">
            <a:solidFill>
              <a:srgbClr val="F3CA83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CCFD1C02-C9FA-4151-BA4B-08927DABF223}"/>
              </a:ext>
            </a:extLst>
          </p:cNvPr>
          <p:cNvSpPr>
            <a:spLocks noGrp="1"/>
          </p:cNvSpPr>
          <p:nvPr/>
        </p:nvSpPr>
        <p:spPr>
          <a:xfrm>
            <a:off x="1371600" y="4248150"/>
            <a:ext cx="946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4. Implementación</a:t>
            </a:r>
          </a:p>
        </p:txBody>
      </p:sp>
      <p:sp>
        <p:nvSpPr>
          <p:cNvPr id="22" name="">
            <a:extLst>
              <a:ext uri="{FF2B5EF4-FFF2-40B4-BE49-F238E27FC236}">
                <ns2:creationId id="{A2BA284D-9952-48D9-AC04-8A5D80E3CE63}"/>
              </a:ext>
            </a:extLst>
          </p:cNvPr>
          <p:cNvSpPr>
            <a:spLocks noGrp="1"/>
          </p:cNvSpPr>
          <p:nvPr/>
        </p:nvSpPr>
        <p:spPr>
          <a:xfrm>
            <a:off x="1371600" y="4410075"/>
            <a:ext cx="946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9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Cambios pequeños, scripts oficiales, pruebas enfocadas y evidencia de cierre.</a:t>
            </a:r>
          </a:p>
        </p:txBody>
      </p:sp>
      <p:sp>
        <p:nvSpPr>
          <p:cNvPr id="24" name="">
            <a:extLst>
              <a:ext uri="{FF2B5EF4-FFF2-40B4-BE49-F238E27FC236}">
                <ns2:creationId id="{9743510C-3CFA-47A7-B18B-9E0533F42928}"/>
              </a:ext>
            </a:extLst>
          </p:cNvPr>
          <p:cNvSpPr>
            <a:spLocks noGrp="1"/>
          </p:cNvSpPr>
          <p:nvPr/>
        </p:nvSpPr>
        <p:spPr>
          <a:xfrm>
            <a:off x="1143000" y="4762500"/>
            <a:ext cx="9906000" cy="609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07CFE22D-545C-4782-9773-9DE3A67A062F}"/>
              </a:ext>
            </a:extLst>
          </p:cNvPr>
          <p:cNvSpPr>
            <a:spLocks noGrp="1"/>
          </p:cNvSpPr>
          <p:nvPr/>
        </p:nvSpPr>
        <p:spPr>
          <a:xfrm>
            <a:off x="1143000" y="4762500"/>
            <a:ext cx="66675" cy="609600"/>
          </a:xfrm>
          <a:prstGeom prst="rect">
            <a:avLst/>
          </a:prstGeom>
          <a:solidFill>
            <a:srgbClr val="86A9D6"/>
          </a:solidFill>
          <a:ln w="0">
            <a:solidFill>
              <a:srgbClr val="86A9D6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2C158355-BAAB-46D7-A768-C72823DAD2C7}"/>
              </a:ext>
            </a:extLst>
          </p:cNvPr>
          <p:cNvSpPr>
            <a:spLocks noGrp="1"/>
          </p:cNvSpPr>
          <p:nvPr/>
        </p:nvSpPr>
        <p:spPr>
          <a:xfrm>
            <a:off x="1371600" y="4933950"/>
            <a:ext cx="946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5. Retroalimentación</a:t>
            </a:r>
          </a:p>
        </p:txBody>
      </p:sp>
      <p:sp>
        <p:nvSpPr>
          <p:cNvPr id="27" name="">
            <a:extLst>
              <a:ext uri="{FF2B5EF4-FFF2-40B4-BE49-F238E27FC236}">
                <ns2:creationId id="{72DC0031-1CF1-4D5E-9A62-4B8BC008DEB2}"/>
              </a:ext>
            </a:extLst>
          </p:cNvPr>
          <p:cNvSpPr>
            <a:spLocks noGrp="1"/>
          </p:cNvSpPr>
          <p:nvPr/>
        </p:nvSpPr>
        <p:spPr>
          <a:xfrm>
            <a:off x="1371600" y="5095875"/>
            <a:ext cx="946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9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Journal, demo runbook y specs se actualizan cuando cambia una decisión.</a:t>
            </a:r>
          </a:p>
        </p:txBody>
      </p:sp>
      <p:sp>
        <p:nvSpPr>
          <p:cNvPr id="28" name="">
            <a:extLst>
              <a:ext uri="{FF2B5EF4-FFF2-40B4-BE49-F238E27FC236}">
                <ns2:creationId id="{873B3CF7-C02C-49CA-A0A3-F3025EE407B5}"/>
              </a:ext>
            </a:extLst>
          </p:cNvPr>
          <p:cNvSpPr>
            <a:spLocks noGrp="1"/>
          </p:cNvSpPr>
          <p:nvPr/>
        </p:nvSpPr>
        <p:spPr>
          <a:xfrm>
            <a:off x="4381500" y="65532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defRPr>
            </a:pPr>
            <a:r>
              <a: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rPr>
              <a:t>TONTO Kids Assistant · Dev Expert - AI Expert · Junio 2026</a:t>
            </a:r>
          </a:p>
        </p:txBody>
      </p:sp>
      <p:sp>
        <p:nvSpPr>
          <p:cNvPr id="29" name="">
            <a:extLst>
              <a:ext uri="{FF2B5EF4-FFF2-40B4-BE49-F238E27FC236}">
                <ns2:creationId id="{5D16C023-7887-456D-B532-246DA32D75E9}"/>
              </a:ext>
            </a:extLst>
          </p:cNvPr>
          <p:cNvSpPr>
            <a:spLocks noGrp="1"/>
          </p:cNvSpPr>
          <p:nvPr/>
        </p:nvSpPr>
        <p:spPr>
          <a:xfrm>
            <a:off x="5943600" y="6705600"/>
            <a:ext cx="3048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7</a:t>
            </a:r>
          </a:p>
        </p:txBody>
      </p:sp>
    </p:spTree>
    <p:extLst>
      <p:ext uri="{BB962C8B-B14F-4D97-AF65-F5344CB8AC3E}">
        <p14:creationId val="642755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98A8C-2933-491F-A45D-D261A07C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FUENTE DE VERDAD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55AC6-1DA7-4729-847A-6FFCD08B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Docs + specs + instrucciones de agentes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F8901-CF93-4551-84F8-50298C2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Cada cambio técnico debe poder rastrearse a una decisión o a un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D742D-94E7-492D-8371-1BFC3308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5143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93B4B-9513-4B05-A4DD-45E67075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41C65-8F27-4089-B7EB-0EA23C0B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docs/specs.md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0BF48-989A-4E7C-86A6-1222317E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Estado funcional y alcance activo.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59064-F373-43FF-995F-867330C4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5143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A287D-61FB-4F13-AE5D-558CBE89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B6"/>
          </a:solidFill>
          <a:ln xmlns:a="http://schemas.openxmlformats.org/drawingml/2006/main" w="0">
            <a:solidFill>
              <a:srgbClr val="9ADD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9C6CF-679E-40C9-8E61-6DE5E5DE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docs/roadmap.md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0BBB7-2E94-40A1-BFCD-D5BE9892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Hitos semanales y foco del MVP.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98B25-B3C5-4CBE-9A34-E8373D57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5143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D99D6-E01B-43C7-A368-D44898D3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48"/>
          </a:solidFill>
          <a:ln xmlns:a="http://schemas.openxmlformats.org/drawingml/2006/main" w="0">
            <a:solidFill>
              <a:srgbClr val="F5D9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4911C-C731-4E43-8CF8-3EDAA4EF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AGENTS.md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0134A-F353-4045-87F4-92BDC2ED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Reglas persistentes para agentes.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43F74-E61D-4B68-80BB-47835AD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5143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157A4-A60B-4BB2-A224-BE6ED9DB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A83"/>
          </a:solidFill>
          <a:ln xmlns:a="http://schemas.openxmlformats.org/drawingml/2006/main" w="0">
            <a:solidFill>
              <a:srgbClr val="F3C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57E05-A4B4-4B41-A52C-BF73E8C3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docs/ai-assisted-workflow.md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290B6-76E3-4391-86F8-87FC7CF8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0045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Pre-edit gate, ramas, PRs y cierre.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4FC0A-7F7E-4D9D-AC7F-B9A0F775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143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C7A17-81F7-4EAC-84FB-43B007EB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82885-EA0B-40EA-B152-60292640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project-journal/week-XX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65F5FD-0D7C-42E1-8C1F-E48A74E5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Evidencia y aprendizaje semanal.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D76CE-7A25-4578-A4A1-C6A7C524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F3B3DE-B9E9-4036-A8FE-3A3186E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1275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Si implementación y documentación discrepan, se explicita la decisión antes de continuar.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77D1FC-C2E5-44E9-B59A-3CAF0717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defRPr>
            </a:pPr>
            <a:r>
              <a: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rPr>
              <a:t>TONTO Kids Assistant · Dev Expert - AI Expert · Junio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63FF05-EF51-4E72-AD0B-0378DA95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056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92558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F217F7-502E-4F16-979C-CCC411BF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ESTRUCTURA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8B708-6279-4EB3-819F-146ED038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Monorepo claro para prototipo físico + backend + validación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C4029-8E2E-4BBE-8FAA-8F57C423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Cada área tiene un propósito pequeño y fácil de inspeccionar.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E92E8-01DD-4943-A333-F535161E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D3277-3396-40AB-A3A6-EEE50CFC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B281F-314F-432A-8A5B-F04DC0C3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backend/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229F5-8B1E-4B87-9511-70B69E90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FastAPI y proveedores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68A88-83CB-4CE9-B146-5CD045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43125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5B686-638D-4A05-95E7-963026B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431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B6"/>
          </a:solidFill>
          <a:ln xmlns:a="http://schemas.openxmlformats.org/drawingml/2006/main" w="0">
            <a:solidFill>
              <a:srgbClr val="9ADD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C3CD9-D40A-48FF-8193-B4CBBFDC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145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client/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28F73-CBAC-44F8-A102-A5185FD2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384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Raspberry Pi: I/O y voz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2009D-C4EF-4464-A499-C955D1BA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BF3EC-FD54-4250-B848-B308A80E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48"/>
          </a:solidFill>
          <a:ln xmlns:a="http://schemas.openxmlformats.org/drawingml/2006/main" w="0">
            <a:solidFill>
              <a:srgbClr val="F5D9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0B376-92F1-46FB-B13B-37EBAE25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145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web/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E318A-F41F-4641-9ACF-073A7DE5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384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Validación y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936E3-3481-4A5F-98A4-46AE9A1A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43125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A9FDB-C62A-4E97-AF9C-3F01B537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431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A83"/>
          </a:solidFill>
          <a:ln xmlns:a="http://schemas.openxmlformats.org/drawingml/2006/main" w="0">
            <a:solidFill>
              <a:srgbClr val="F3C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0E888-6C77-4133-862D-DCFA90BE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shared/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6A9D1-3690-4353-9CFE-DEF67035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384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Contratos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30AE1-ACAD-46E9-BB62-6817C105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AF872-A2E7-4B1A-B474-91B9002B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46606-3490-45F4-BB6F-3483463A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tests/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CC4988-CB6B-41AF-9AFE-C5C9D521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Pruebas enfocadas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62688-B659-4E4B-B7C8-A84CA7BE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00425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70421-DCA4-4912-B12A-2004CF2B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00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B6"/>
          </a:solidFill>
          <a:ln xmlns:a="http://schemas.openxmlformats.org/drawingml/2006/main" w="0">
            <a:solidFill>
              <a:srgbClr val="9ADD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4D5707-17E1-473D-90EA-541A9605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718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scripts/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3EBC1-CB04-425E-A4B5-900A96D1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957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Comandos oficiales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7B1E7-61F4-4FE8-8A02-4814E81D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0425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92CC7C-4DEB-42E6-83F2-059E2A26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0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48"/>
          </a:solidFill>
          <a:ln xmlns:a="http://schemas.openxmlformats.org/drawingml/2006/main" w="0">
            <a:solidFill>
              <a:srgbClr val="F5D94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2218C5-58C1-445E-BD8A-56F63B1D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docs/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9163E7-04AF-4D01-B37F-029AF91D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957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Producto y workflow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1E0F7B-0C49-4CC8-94FA-BF03686B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00425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62A22A-BDBF-4302-A1D1-54398364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00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A83"/>
          </a:solidFill>
          <a:ln xmlns:a="http://schemas.openxmlformats.org/drawingml/2006/main" w="0">
            <a:solidFill>
              <a:srgbClr val="F3CA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AB123E-EB39-4F1E-B7BD-F34C89A8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718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4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specs/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90FB62-34C5-4008-B707-E9904C1D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957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Criterios verificables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F58AC9-1A8D-4C76-B600-DD3C3256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defRPr>
            </a:pPr>
            <a:r>
              <a: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rPr>
              <a:t>TONTO Kids Assistant · Dev Expert - AI Expert · Junio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82F5BE-9962-4C23-AB3A-5B9689F4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056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8572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CCF0AE-3989-4511-937F-8BC3619C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RECORRIDO RECOMENDADO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73B41-7668-4C82-882D-27E85F20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De alto nivel a detalle técnico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E9049-D6B9-423A-A550-EAE09703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Guía para revisar el proyecto sin perderse entre archivos.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5E8A7-00F2-4839-BF1A-2C057CF2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18B10-1887-43B5-9372-162A43F6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FC2E5-AB56-4BFF-99BC-4E1457E0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98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1. Entrada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4F483-E084-4F83-B322-6630CF17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14478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README · docs/README · project-genesis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F7C56-B06C-4194-8E3F-E0029EAB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38375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D6C86-EBC0-4934-A073-DAC66759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383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B6"/>
          </a:solidFill>
          <a:ln xmlns:a="http://schemas.openxmlformats.org/drawingml/2006/main" w="0">
            <a:solidFill>
              <a:srgbClr val="9ADD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05890-A71A-427A-A079-E82C28FE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98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2. Producto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A6681-2F7E-435F-B8D0-DDAF05BD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33675"/>
            <a:ext cx="14478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specs · roadmap · week-06 closeout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E5C2E-CF8E-4BA5-B6AF-843CD721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38375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6825F-B2AC-4672-A5C3-C4CE9F57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383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48"/>
          </a:solidFill>
          <a:ln xmlns:a="http://schemas.openxmlformats.org/drawingml/2006/main" w="0">
            <a:solidFill>
              <a:srgbClr val="F5D9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608BC-0BDF-4993-8A49-0BD07D3C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098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3. Técnica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81EDD-49C5-4F40-ADC4-D88359EE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33675"/>
            <a:ext cx="14478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architecture · decisions · inference providers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6D211-DFA2-4763-B420-FA37A029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38375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62286-3928-483D-A7FA-022EE80D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383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A83"/>
          </a:solidFill>
          <a:ln xmlns:a="http://schemas.openxmlformats.org/drawingml/2006/main" w="0">
            <a:solidFill>
              <a:srgbClr val="F3C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CD2B4-772E-4860-81B7-BD95FE9F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98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4. Ejecución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C9D72-C92E-4F1D-8EE6-DF2ADA92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33675"/>
            <a:ext cx="14478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AGENTS · AI workflow · repo-local 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49BCD-D2D7-4428-81EC-5E369A8E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38375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FD757-33A9-43FA-BA32-D935F04B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383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1D296-FB9F-4D8B-B3AE-A21FBBDC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98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5. Evidencia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29F65-AE65-49BA-939D-B2759BB6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33675"/>
            <a:ext cx="14478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journal semanal · demo runbook · demo checklist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E85E1-02AB-468D-A8F4-C285CAE3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71D7D-17D5-45DD-8A43-E3740E1E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149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Lectura: orientación → decisiones → plan → evidencia.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36D903-A38A-4A37-9456-D64130A1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defRPr>
            </a:pPr>
            <a:r>
              <a: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rPr>
              <a:t>TONTO Kids Assistant · Dev Expert - AI Expert · Junio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CD58C5-6662-43BB-A91E-FB37DF37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056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85544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1C033A-30EC-4F1E-8D2F-078330ED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QUÉ EVALUAR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631AC-3A32-406E-AFD0-2296FC8C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Producto, proceso y capacidad de evolución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868CD-33CF-49FA-A8EB-D8EE0B7D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La entrega muestra una forma de construir con IA sin perder control técnico.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341D3-76EE-4F9D-91F0-B913619A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BF8B9-4405-4F2F-B13E-22B4CC8F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DEA37-24F5-47EC-85ED-F71D7268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050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7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88DEE-1D36-4415-BD7C-DD96EA3E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28925"/>
            <a:ext cx="2609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Loop conversacional reproducible: interacción, backend, respuesta educativa y voz.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62A31-6708-4FB7-9C19-92912BB0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C8137-AFB4-4AE9-9C60-56C921F4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B6"/>
          </a:solidFill>
          <a:ln xmlns:a="http://schemas.openxmlformats.org/drawingml/2006/main" w="0">
            <a:solidFill>
              <a:srgbClr val="9ADD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FCDDA-C5A4-436B-B932-7631D1EA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050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7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Proceso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DEED6-B9B6-4EF1-AE67-E22FF7F8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28925"/>
            <a:ext cx="2609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MVP semanal, decisiones explícitas, scripts oficiales, pruebas y runbooks.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046CC-8F67-406D-BB8F-6B98D69D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A1104-D59A-4B65-9E13-C0A9654F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48"/>
          </a:solidFill>
          <a:ln xmlns:a="http://schemas.openxmlformats.org/drawingml/2006/main" w="0">
            <a:solidFill>
              <a:srgbClr val="F5D9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6D3B2-9E8E-4F24-9A9F-76F8201E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050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725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Evolución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B805C-F6A4-4753-AC05-299333D1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28925"/>
            <a:ext cx="2609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Visión, sensores, IoT, movimiento y proveedores de inferencia.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E70FB-D6B3-4008-92EE-B1BD5FA9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81915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49D66-17C6-4408-8DFE-27A6639C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673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150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No promete todo: demuestra que la base permite crecer con criterio.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8168C-36D9-400C-ACE7-F48AB4A4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defRPr>
            </a:pPr>
            <a:r>
              <a: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rPr>
              <a:t>TONTO Kids Assistant · Dev Expert - AI Expert · Junio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11324-A5C7-49E5-814A-5AC579B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056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019078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AF565-293C-4830-9976-674AC704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788" b="1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REFERENCIAS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3CDDD-4267-4F3E-A2F7-451E9303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defRPr>
            </a:pPr>
            <a:r>
              <a:rPr sz="2550" b="1">
                <a:solidFill>
                  <a:srgbClr val="40536D"/>
                </a:solidFill>
                <a:latin typeface="Nunito Sans"/>
                <a:ea typeface="Nunito Sans"/>
                <a:cs typeface="Nunito Sans"/>
              </a:rPr>
              <a:t>Material de revisión para tutores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B152F-D645-4ED3-AA7C-D73E3957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Repositorio, NotebookLM y puntos de entrada a la documentación.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918B1-204C-4455-B494-19AC544C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8EA64-405E-4B95-AB22-30086A38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D6"/>
          </a:solidFill>
          <a:ln xmlns:a="http://schemas.openxmlformats.org/drawingml/2006/main" w="0">
            <a:solidFill>
              <a:srgbClr val="86A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100CB-5DB0-42C0-AC71-C031892D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Repositorio 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07235-E2BD-4A5F-B3FA-0CF8B4D5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90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https://github.com/joseluisillana/tonto-kids-assistant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D09D3-7C88-43BB-934C-017358C8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3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67370-7BE8-4969-A0BC-EFF77D90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B6"/>
          </a:solidFill>
          <a:ln xmlns:a="http://schemas.openxmlformats.org/drawingml/2006/main" w="0">
            <a:solidFill>
              <a:srgbClr val="9ADD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5631E-B0CE-4381-BFBE-1903D49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2407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NotebookLM del proyecto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FC99A-87E8-4C29-8EE2-6BB38751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47925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713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https://notebooklm.google.com/notebook/642f125f-16b0-4a94-80d6-9555f2cfb374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5DCA4-67A7-45FB-BEEF-F4891EA2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33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9BC82-6E88-44A6-BAD1-F86217DA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948"/>
          </a:solidFill>
          <a:ln xmlns:a="http://schemas.openxmlformats.org/drawingml/2006/main" w="0">
            <a:solidFill>
              <a:srgbClr val="F5D9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4216E-50D5-4B3D-8560-95A1E344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Lectura rápida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08226-FCDD-4671-91DB-28F9C082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README.md · docs/specs.md · docs/roadmap.md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D066C-E7D1-4355-8B42-7A804E4F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33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6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8D26F-7513-4A11-B06F-865993EA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A83"/>
          </a:solidFill>
          <a:ln xmlns:a="http://schemas.openxmlformats.org/drawingml/2006/main" w="0">
            <a:solidFill>
              <a:srgbClr val="F3CA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87CAA-86B6-44F1-969A-A069333C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7182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Workflow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79A36-4529-4E9F-A311-08EAD993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95675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docs/ai-assisted-workflow.md · AGENTS.md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41B33-652A-4BF7-866B-FB00B049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5D293-C00E-4FA6-B962-DB3649A5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>
                <a:solidFill>
                  <a:srgbClr val="1B2635"/>
                </a:solidFill>
                <a:latin typeface="Nunito Sans"/>
                <a:ea typeface="Nunito Sans"/>
                <a:cs typeface="Nunito Sans"/>
              </a:rPr>
              <a:t>Jose Luis Illana Ruiz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DA12C-B671-4D8E-B66B-0283605D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3728A"/>
                </a:solidFill>
                <a:latin typeface="Nunito Sans"/>
                <a:ea typeface="Nunito Sans"/>
                <a:cs typeface="Nunito Sans"/>
              </a:defRPr>
            </a:pPr>
            <a:r>
              <a:rPr sz="825" b="0">
                <a:solidFill>
                  <a:srgbClr val="63728A"/>
                </a:solidFill>
                <a:latin typeface="Nunito Sans"/>
                <a:ea typeface="Nunito Sans"/>
                <a:cs typeface="Nunito Sans"/>
              </a:rPr>
              <a:t>joseluisillana@gmail.com · linkedin.com/in/jose-luis-illana-ruiz-9446831b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6919F0-B024-40C5-9772-2D663279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defRPr>
            </a:pPr>
            <a:r>
              <a:rPr sz="638" b="0">
                <a:solidFill>
                  <a:srgbClr val="A6B5C8"/>
                </a:solidFill>
                <a:latin typeface="Nunito Sans"/>
                <a:ea typeface="Nunito Sans"/>
                <a:cs typeface="Nunito Sans"/>
              </a:rPr>
              <a:t>TONTO Kids Assistant · Dev Expert - AI Expert · Junio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7A498-FD51-4D17-A1BC-F980C336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056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6E8ED4"/>
                </a:solidFill>
                <a:latin typeface="Nunito Sans"/>
                <a:ea typeface="Nunito Sans"/>
                <a:cs typeface="Nunit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82243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2026-06-17T21:54:27.3860000Z</dcterms:created>
  <dcterms:modified xsi:type="dcterms:W3CDTF">2026-06-17T21:54:27.3860000Z</dcterms:modified>
</coreProperties>
</file>